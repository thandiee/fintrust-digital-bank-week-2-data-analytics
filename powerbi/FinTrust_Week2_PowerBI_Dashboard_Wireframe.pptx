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FinTrust Digital Bank — Week 2 Management Dashboard Wireframe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7830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Total Customers</a:t>
            </a:r>
          </a:p>
          <a:p>
            <a:pPr algn="ctr">
              <a:defRPr sz="1100"/>
            </a:pPr>
            <a: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2395728" y="914400"/>
            <a:ext cx="17830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Transactions</a:t>
            </a:r>
          </a:p>
          <a:p>
            <a:pPr algn="ctr">
              <a:defRPr sz="1100"/>
            </a:pPr>
            <a: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334256" y="914400"/>
            <a:ext cx="17830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Transaction Value</a:t>
            </a:r>
          </a:p>
          <a:p>
            <a:pPr algn="ctr">
              <a:defRPr sz="1100"/>
            </a:pPr>
            <a:r>
              <a:t>NGN 959,180.43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2784" y="914400"/>
            <a:ext cx="17830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Avg. Transaction</a:t>
            </a:r>
          </a:p>
          <a:p>
            <a:pPr algn="ctr">
              <a:defRPr sz="1100"/>
            </a:pPr>
            <a:r>
              <a:t>NGN 29,066.07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11312" y="914400"/>
            <a:ext cx="17830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Median</a:t>
            </a:r>
          </a:p>
          <a:p>
            <a:pPr algn="ctr">
              <a:defRPr sz="1100"/>
            </a:pPr>
            <a:r>
              <a:t>NGN 6,702.14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9840" y="914400"/>
            <a:ext cx="17830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Join Match Rate</a:t>
            </a:r>
          </a:p>
          <a:p>
            <a:pPr algn="ctr">
              <a:defRPr sz="1100"/>
            </a:pPr>
            <a:r>
              <a:t>3.0%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34747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Customer Segments</a:t>
            </a:r>
          </a:p>
          <a:p>
            <a:pPr algn="ctr">
              <a:defRPr sz="1000"/>
            </a:pPr>
          </a:p>
          <a:p>
            <a:pPr algn="ctr">
              <a:defRPr sz="1000"/>
            </a:pPr>
            <a:r>
              <a:t>[Visual / table placeholder]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965960"/>
            <a:ext cx="34747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Transaction Channels</a:t>
            </a:r>
          </a:p>
          <a:p>
            <a:pPr algn="ctr">
              <a:defRPr sz="1000"/>
            </a:pPr>
          </a:p>
          <a:p>
            <a:pPr algn="ctr">
              <a:defRPr sz="1000"/>
            </a:pPr>
            <a:r>
              <a:t>[Visual / table placeholder]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965960"/>
            <a:ext cx="384048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Transaction Types</a:t>
            </a:r>
          </a:p>
          <a:p>
            <a:pPr algn="ctr">
              <a:defRPr sz="1000"/>
            </a:pPr>
          </a:p>
          <a:p>
            <a:pPr algn="ctr">
              <a:defRPr sz="1000"/>
            </a:pPr>
            <a:r>
              <a:t>[Visual / table placeholder]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69080"/>
            <a:ext cx="6583680" cy="2057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Hourly Transaction Trend</a:t>
            </a:r>
          </a:p>
          <a:p>
            <a:pPr algn="ctr">
              <a:defRPr sz="1000"/>
            </a:pPr>
          </a:p>
          <a:p>
            <a:pPr algn="ctr">
              <a:defRPr sz="1000"/>
            </a:pPr>
            <a:r>
              <a:t>[Visual / table placeholder]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4069080"/>
            <a:ext cx="4434840" cy="2057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Data Quality &amp; Limitations</a:t>
            </a:r>
          </a:p>
          <a:p>
            <a:pPr algn="ctr">
              <a:defRPr sz="1000"/>
            </a:pPr>
          </a:p>
          <a:p>
            <a:pPr algn="ctr">
              <a:defRPr sz="1000"/>
            </a:pPr>
            <a:r>
              <a:t>[Visual / table 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